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459" r:id="rId5"/>
    <p:sldId id="535" r:id="rId6"/>
    <p:sldId id="534" r:id="rId7"/>
    <p:sldId id="536" r:id="rId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EC77F8D5-F2B7-4049-A680-F1D9EA83FD28}">
          <p14:sldIdLst>
            <p14:sldId id="459"/>
            <p14:sldId id="535"/>
            <p14:sldId id="534"/>
            <p14:sldId id="5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konno" initials="s" lastIdx="2" clrIdx="0">
    <p:extLst>
      <p:ext uri="{19B8F6BF-5375-455C-9EA6-DF929625EA0E}">
        <p15:presenceInfo xmlns:p15="http://schemas.microsoft.com/office/powerpoint/2012/main" userId="skonn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FF00"/>
    <a:srgbClr val="F79646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89775" autoAdjust="0"/>
  </p:normalViewPr>
  <p:slideViewPr>
    <p:cSldViewPr>
      <p:cViewPr varScale="1">
        <p:scale>
          <a:sx n="63" d="100"/>
          <a:sy n="63" d="100"/>
        </p:scale>
        <p:origin x="17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12D3E-869E-4D06-A489-89045881AA6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5FB2CE-F941-4FBD-B497-0CB84C568B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9708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FB2CE-F941-4FBD-B497-0CB84C568B9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5330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FB2CE-F941-4FBD-B497-0CB84C568B9F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954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FB2CE-F941-4FBD-B497-0CB84C568B9F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436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8CE28C-99F3-438E-B96E-286C8E57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87" y="2906713"/>
            <a:ext cx="7772400" cy="1362075"/>
          </a:xfrm>
        </p:spPr>
        <p:txBody>
          <a:bodyPr/>
          <a:lstStyle/>
          <a:p>
            <a:r>
              <a:rPr kumimoji="1" lang="en-US" altLang="ja-JP" dirty="0"/>
              <a:t>1.</a:t>
            </a:r>
            <a:r>
              <a:rPr kumimoji="1" lang="ja-JP" altLang="en-US" dirty="0"/>
              <a:t>ソフトウェア企画書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0033F7-C7A1-45E9-9999-41FD65B28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576" y="4077072"/>
            <a:ext cx="7772400" cy="1944216"/>
          </a:xfrm>
        </p:spPr>
        <p:txBody>
          <a:bodyPr anchor="t">
            <a:normAutofit/>
          </a:bodyPr>
          <a:lstStyle/>
          <a:p>
            <a:endParaRPr lang="en-US" altLang="ja-JP" sz="2400" dirty="0">
              <a:solidFill>
                <a:schemeClr val="tx1"/>
              </a:solidFill>
            </a:endParaRPr>
          </a:p>
          <a:p>
            <a:endParaRPr lang="en-US" altLang="ja-JP" sz="2400" dirty="0">
              <a:solidFill>
                <a:schemeClr val="tx1"/>
              </a:solidFill>
            </a:endParaRPr>
          </a:p>
          <a:p>
            <a:r>
              <a:rPr kumimoji="1" lang="ja-JP" altLang="en-US" sz="2400" dirty="0">
                <a:solidFill>
                  <a:schemeClr val="tx1"/>
                </a:solidFill>
              </a:rPr>
              <a:t>作成日：</a:t>
            </a:r>
            <a:r>
              <a:rPr kumimoji="1" lang="en-US" altLang="ja-JP" sz="2400" dirty="0">
                <a:solidFill>
                  <a:schemeClr val="tx1"/>
                </a:solidFill>
              </a:rPr>
              <a:t>R</a:t>
            </a:r>
            <a:r>
              <a:rPr lang="en-US" altLang="ja-JP" sz="2400" dirty="0">
                <a:solidFill>
                  <a:schemeClr val="tx1"/>
                </a:solidFill>
              </a:rPr>
              <a:t>6</a:t>
            </a:r>
            <a:r>
              <a:rPr kumimoji="1" lang="ja-JP" altLang="en-US" sz="2400" dirty="0">
                <a:solidFill>
                  <a:schemeClr val="tx1"/>
                </a:solidFill>
              </a:rPr>
              <a:t>年</a:t>
            </a:r>
            <a:r>
              <a:rPr kumimoji="1" lang="en-US" altLang="ja-JP" sz="2400" dirty="0">
                <a:solidFill>
                  <a:schemeClr val="tx1"/>
                </a:solidFill>
              </a:rPr>
              <a:t>6</a:t>
            </a:r>
            <a:r>
              <a:rPr kumimoji="1" lang="ja-JP" altLang="en-US" sz="2400" dirty="0">
                <a:solidFill>
                  <a:schemeClr val="tx1"/>
                </a:solidFill>
              </a:rPr>
              <a:t>月</a:t>
            </a:r>
            <a:r>
              <a:rPr kumimoji="1" lang="en-US" altLang="ja-JP" sz="2400" dirty="0">
                <a:solidFill>
                  <a:schemeClr val="tx1"/>
                </a:solidFill>
              </a:rPr>
              <a:t>11</a:t>
            </a:r>
            <a:r>
              <a:rPr kumimoji="1" lang="ja-JP" altLang="en-US" sz="2400" dirty="0">
                <a:solidFill>
                  <a:schemeClr val="tx1"/>
                </a:solidFill>
              </a:rPr>
              <a:t>日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dirty="0">
                <a:solidFill>
                  <a:schemeClr val="tx1"/>
                </a:solidFill>
              </a:rPr>
              <a:t>更新日：</a:t>
            </a:r>
            <a:r>
              <a:rPr lang="en-US" altLang="ja-JP" sz="2400" dirty="0">
                <a:solidFill>
                  <a:schemeClr val="tx1"/>
                </a:solidFill>
              </a:rPr>
              <a:t>R6</a:t>
            </a:r>
            <a:r>
              <a:rPr lang="ja-JP" altLang="en-US" sz="2400" dirty="0">
                <a:solidFill>
                  <a:schemeClr val="tx1"/>
                </a:solidFill>
              </a:rPr>
              <a:t>年</a:t>
            </a:r>
            <a:r>
              <a:rPr lang="en-US" altLang="ja-JP" sz="2400" dirty="0">
                <a:solidFill>
                  <a:schemeClr val="tx1"/>
                </a:solidFill>
              </a:rPr>
              <a:t>9</a:t>
            </a:r>
            <a:r>
              <a:rPr lang="ja-JP" altLang="en-US" sz="2400" dirty="0">
                <a:solidFill>
                  <a:schemeClr val="tx1"/>
                </a:solidFill>
              </a:rPr>
              <a:t>月</a:t>
            </a:r>
            <a:r>
              <a:rPr lang="en-US" altLang="ja-JP" sz="2400" dirty="0">
                <a:solidFill>
                  <a:schemeClr val="tx1"/>
                </a:solidFill>
              </a:rPr>
              <a:t>13</a:t>
            </a:r>
            <a:r>
              <a:rPr lang="ja-JP" altLang="en-US" sz="2400" dirty="0">
                <a:solidFill>
                  <a:schemeClr val="tx1"/>
                </a:solidFill>
              </a:rPr>
              <a:t>日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514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35B4B-7775-44C5-86E8-F01DA930D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ゲームの概要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924583-96F6-473D-A502-9294B5D41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579296" cy="5589240"/>
          </a:xfrm>
        </p:spPr>
        <p:txBody>
          <a:bodyPr>
            <a:normAutofit/>
          </a:bodyPr>
          <a:lstStyle/>
          <a:p>
            <a:pPr>
              <a:buClr>
                <a:schemeClr val="accent6"/>
              </a:buClr>
              <a:buFont typeface="Wingdings" panose="05000000000000000000" pitchFamily="2" charset="2"/>
              <a:buChar char="n"/>
            </a:pPr>
            <a:r>
              <a:rPr lang="ja-JP" altLang="en-US" sz="2400" u="sng" dirty="0"/>
              <a:t>ゲームの概要</a:t>
            </a:r>
            <a:endParaRPr lang="en-US" altLang="ja-JP" sz="2400" u="sng" dirty="0"/>
          </a:p>
          <a:p>
            <a:pPr>
              <a:buClr>
                <a:schemeClr val="accent6"/>
              </a:buClr>
            </a:pPr>
            <a:r>
              <a:rPr lang="ja-JP" altLang="en-US" sz="2400" dirty="0"/>
              <a:t>概要</a:t>
            </a:r>
            <a:r>
              <a:rPr lang="en-US" altLang="ja-JP" sz="2400" dirty="0"/>
              <a:t>1</a:t>
            </a:r>
            <a:br>
              <a:rPr lang="en-US" altLang="ja-JP" sz="2000" dirty="0"/>
            </a:br>
            <a:r>
              <a:rPr lang="ja-JP" altLang="en-US" sz="2000" dirty="0"/>
              <a:t>サイコロを振って役を作り、高スコアを目指すストラテジーゲーム。</a:t>
            </a:r>
            <a:endParaRPr lang="en-US" altLang="ja-JP" sz="2000" dirty="0"/>
          </a:p>
          <a:p>
            <a:pPr>
              <a:buClr>
                <a:schemeClr val="accent6"/>
              </a:buClr>
            </a:pPr>
            <a:r>
              <a:rPr lang="ja-JP" altLang="en-US" sz="2400" dirty="0"/>
              <a:t>概要</a:t>
            </a:r>
            <a:r>
              <a:rPr lang="en-US" altLang="ja-JP" sz="2400" dirty="0"/>
              <a:t>2</a:t>
            </a:r>
            <a:br>
              <a:rPr lang="en-US" altLang="ja-JP" sz="2000" dirty="0"/>
            </a:br>
            <a:r>
              <a:rPr lang="ja-JP" altLang="en-US" sz="2000" dirty="0"/>
              <a:t>サイコロは振り直すことができる。</a:t>
            </a:r>
            <a:endParaRPr lang="en-US" altLang="ja-JP" sz="2000" dirty="0"/>
          </a:p>
          <a:p>
            <a:pPr>
              <a:buClr>
                <a:schemeClr val="accent6"/>
              </a:buClr>
              <a:buFont typeface="Wingdings" panose="05000000000000000000" pitchFamily="2" charset="2"/>
              <a:buChar char="n"/>
            </a:pPr>
            <a:endParaRPr lang="en-US" altLang="ja-JP" sz="2800" u="sng" dirty="0"/>
          </a:p>
          <a:p>
            <a:pPr>
              <a:buClr>
                <a:schemeClr val="accent6"/>
              </a:buClr>
              <a:buFont typeface="Wingdings" panose="05000000000000000000" pitchFamily="2" charset="2"/>
              <a:buChar char="n"/>
            </a:pPr>
            <a:r>
              <a:rPr lang="ja-JP" altLang="en-US" sz="2400" dirty="0"/>
              <a:t>ゲームの特徴</a:t>
            </a:r>
            <a:r>
              <a:rPr lang="en-US" altLang="ja-JP" sz="2400" dirty="0"/>
              <a:t>	</a:t>
            </a:r>
            <a:endParaRPr lang="en-US" altLang="ja-JP" sz="2000" dirty="0"/>
          </a:p>
          <a:p>
            <a:pPr>
              <a:buClr>
                <a:schemeClr val="accent6"/>
              </a:buClr>
            </a:pPr>
            <a:r>
              <a:rPr lang="en-US" altLang="ja-JP" sz="2400" dirty="0"/>
              <a:t>【</a:t>
            </a:r>
            <a:r>
              <a:rPr lang="ja-JP" altLang="en-US" sz="2400" dirty="0"/>
              <a:t>特徴</a:t>
            </a:r>
            <a:r>
              <a:rPr lang="en-US" altLang="ja-JP" sz="2400" dirty="0"/>
              <a:t>1】</a:t>
            </a:r>
            <a:r>
              <a:rPr lang="ja-JP" altLang="en-US" sz="2000" dirty="0"/>
              <a:t>ポーカーをサイコロで表現</a:t>
            </a:r>
            <a:endParaRPr lang="en-US" altLang="ja-JP" sz="2000" dirty="0"/>
          </a:p>
          <a:p>
            <a:pPr marL="0" indent="0">
              <a:buClr>
                <a:schemeClr val="accent6"/>
              </a:buClr>
              <a:buNone/>
            </a:pPr>
            <a:r>
              <a:rPr lang="ja-JP" altLang="en-US" sz="2000" dirty="0"/>
              <a:t>　　役がサイコロに対応している。</a:t>
            </a:r>
            <a:endParaRPr lang="en-US" altLang="ja-JP" sz="2000" dirty="0"/>
          </a:p>
          <a:p>
            <a:pPr>
              <a:buClr>
                <a:schemeClr val="accent6"/>
              </a:buClr>
            </a:pPr>
            <a:endParaRPr lang="en-US" altLang="ja-JP" sz="2000" dirty="0"/>
          </a:p>
          <a:p>
            <a:pPr>
              <a:buClr>
                <a:schemeClr val="accent6"/>
              </a:buClr>
            </a:pPr>
            <a:r>
              <a:rPr lang="en-US" altLang="ja-JP" sz="2400" dirty="0"/>
              <a:t>【</a:t>
            </a:r>
            <a:r>
              <a:rPr lang="ja-JP" altLang="en-US" sz="2400" dirty="0"/>
              <a:t>特徴</a:t>
            </a:r>
            <a:r>
              <a:rPr lang="en-US" altLang="ja-JP" sz="2400" dirty="0"/>
              <a:t>2】</a:t>
            </a:r>
            <a:r>
              <a:rPr lang="ja-JP" altLang="en-US" sz="2000" dirty="0"/>
              <a:t>リロール機能</a:t>
            </a:r>
            <a:endParaRPr lang="en-US" altLang="ja-JP" sz="2000" dirty="0"/>
          </a:p>
          <a:p>
            <a:pPr marL="0" indent="0">
              <a:buClr>
                <a:schemeClr val="accent6"/>
              </a:buClr>
              <a:buNone/>
            </a:pPr>
            <a:r>
              <a:rPr lang="ja-JP" altLang="en-US" sz="2000" dirty="0"/>
              <a:t>　　任意のサイコロを振り直すことができる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59087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35B4B-7775-44C5-86E8-F01DA930D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en-US" altLang="ja-JP" sz="4000" dirty="0"/>
              <a:t>1.</a:t>
            </a:r>
            <a:r>
              <a:rPr lang="ja-JP" altLang="en-US" sz="4000" dirty="0"/>
              <a:t>（</a:t>
            </a:r>
            <a:r>
              <a:rPr lang="en-US" altLang="ja-JP" sz="4000" dirty="0"/>
              <a:t>2</a:t>
            </a:r>
            <a:r>
              <a:rPr lang="ja-JP" altLang="en-US" sz="4000" dirty="0"/>
              <a:t>）特徴の詳細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924583-96F6-473D-A502-9294B5D41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579296" cy="5589240"/>
          </a:xfrm>
        </p:spPr>
        <p:txBody>
          <a:bodyPr>
            <a:normAutofit/>
          </a:bodyPr>
          <a:lstStyle/>
          <a:p>
            <a:pPr>
              <a:buClr>
                <a:schemeClr val="accent6"/>
              </a:buClr>
              <a:buFont typeface="Wingdings" panose="05000000000000000000" pitchFamily="2" charset="2"/>
              <a:buChar char="n"/>
            </a:pPr>
            <a:r>
              <a:rPr lang="en-US" altLang="ja-JP" sz="2400" dirty="0"/>
              <a:t>【</a:t>
            </a:r>
            <a:r>
              <a:rPr lang="ja-JP" altLang="en-US" sz="2400" dirty="0"/>
              <a:t>特徴</a:t>
            </a:r>
            <a:r>
              <a:rPr lang="en-US" altLang="ja-JP" sz="2400" dirty="0"/>
              <a:t>1】</a:t>
            </a:r>
            <a:r>
              <a:rPr lang="ja-JP" altLang="en-US" sz="2400" dirty="0"/>
              <a:t>ポーカーをサイコロで表現</a:t>
            </a:r>
            <a:endParaRPr lang="en-US" altLang="ja-JP" sz="2400" dirty="0"/>
          </a:p>
          <a:p>
            <a:pPr>
              <a:buClr>
                <a:schemeClr val="accent6"/>
              </a:buClr>
            </a:pPr>
            <a:r>
              <a:rPr lang="ja-JP" altLang="en-US" sz="2000" dirty="0"/>
              <a:t>サイコロにすることによって役が作りやすくなり、満足感</a:t>
            </a:r>
            <a:r>
              <a:rPr lang="en-US" altLang="ja-JP" sz="2000" dirty="0"/>
              <a:t>UP</a:t>
            </a:r>
          </a:p>
          <a:p>
            <a:pPr>
              <a:buClr>
                <a:schemeClr val="accent6"/>
              </a:buClr>
            </a:pPr>
            <a:r>
              <a:rPr lang="ja-JP" altLang="en-US" sz="2000" dirty="0"/>
              <a:t>様々な役を作るために、何度もプレイしたくなる。</a:t>
            </a:r>
            <a:endParaRPr lang="en-US" altLang="ja-JP" sz="2000" dirty="0"/>
          </a:p>
          <a:p>
            <a:pPr>
              <a:buClr>
                <a:schemeClr val="accent6"/>
              </a:buClr>
              <a:buFont typeface="Wingdings" panose="05000000000000000000" pitchFamily="2" charset="2"/>
              <a:buChar char="n"/>
            </a:pPr>
            <a:r>
              <a:rPr lang="en-US" altLang="ja-JP" sz="2400" dirty="0"/>
              <a:t>【</a:t>
            </a:r>
            <a:r>
              <a:rPr lang="ja-JP" altLang="en-US" sz="2400" dirty="0"/>
              <a:t>特徴</a:t>
            </a:r>
            <a:r>
              <a:rPr lang="en-US" altLang="ja-JP" sz="2400" dirty="0"/>
              <a:t>2】</a:t>
            </a:r>
            <a:r>
              <a:rPr lang="ja-JP" altLang="en-US" sz="2400" dirty="0"/>
              <a:t>リロール機能</a:t>
            </a:r>
            <a:endParaRPr lang="en-US" altLang="ja-JP" sz="2400" dirty="0"/>
          </a:p>
          <a:p>
            <a:pPr>
              <a:buClr>
                <a:schemeClr val="accent6"/>
              </a:buClr>
            </a:pPr>
            <a:r>
              <a:rPr lang="ja-JP" altLang="en-US" sz="2000" dirty="0"/>
              <a:t>プレイヤーに選択肢を与えることで理不尽さを減らすことができる。</a:t>
            </a:r>
            <a:endParaRPr lang="en-US" altLang="ja-JP" sz="2000" dirty="0"/>
          </a:p>
          <a:p>
            <a:pPr>
              <a:buClr>
                <a:schemeClr val="accent6"/>
              </a:buClr>
            </a:pPr>
            <a:r>
              <a:rPr lang="ja-JP" altLang="en-US" sz="2000" dirty="0"/>
              <a:t>役が作りやすくなるため、爽快感がある。</a:t>
            </a:r>
            <a:endParaRPr lang="en-US" altLang="ja-JP" sz="2000" dirty="0"/>
          </a:p>
          <a:p>
            <a:pPr>
              <a:buClr>
                <a:schemeClr val="accent6"/>
              </a:buClr>
            </a:pPr>
            <a:endParaRPr lang="en-US" altLang="ja-JP" sz="2000" dirty="0"/>
          </a:p>
          <a:p>
            <a:pPr>
              <a:buClr>
                <a:schemeClr val="accent6"/>
              </a:buClr>
            </a:pP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261402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35B4B-7775-44C5-86E8-F01DA930D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en-US" altLang="ja-JP" sz="4000" dirty="0"/>
              <a:t>1.</a:t>
            </a:r>
            <a:r>
              <a:rPr lang="ja-JP" altLang="en-US" sz="4000" dirty="0"/>
              <a:t>（</a:t>
            </a:r>
            <a:r>
              <a:rPr lang="en-US" altLang="ja-JP" sz="4000" dirty="0"/>
              <a:t>3</a:t>
            </a:r>
            <a:r>
              <a:rPr lang="ja-JP" altLang="en-US" sz="4000" dirty="0"/>
              <a:t>）ゲームのサイクル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924583-96F6-473D-A502-9294B5D41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2762"/>
            <a:ext cx="8579296" cy="5675238"/>
          </a:xfrm>
        </p:spPr>
        <p:txBody>
          <a:bodyPr>
            <a:normAutofit/>
          </a:bodyPr>
          <a:lstStyle/>
          <a:p>
            <a:pPr>
              <a:buClr>
                <a:schemeClr val="accent6"/>
              </a:buClr>
              <a:buFont typeface="Wingdings" panose="05000000000000000000" pitchFamily="2" charset="2"/>
              <a:buChar char="n"/>
            </a:pPr>
            <a:r>
              <a:rPr lang="ja-JP" altLang="en-US" sz="2400" u="sng" dirty="0"/>
              <a:t>ゲーム全体の流れを記述する。</a:t>
            </a:r>
            <a:endParaRPr lang="en-US" altLang="ja-JP" sz="2400" u="sng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28DDAFF-D892-128F-B342-4407175184FA}"/>
              </a:ext>
            </a:extLst>
          </p:cNvPr>
          <p:cNvSpPr/>
          <p:nvPr/>
        </p:nvSpPr>
        <p:spPr>
          <a:xfrm>
            <a:off x="955425" y="2266106"/>
            <a:ext cx="1759568" cy="14761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2000" dirty="0">
                <a:highlight>
                  <a:srgbClr val="00FF00"/>
                </a:highlight>
              </a:rPr>
              <a:t>スタート画面</a:t>
            </a:r>
            <a:endParaRPr lang="en-US" altLang="ja-JP" sz="2000" dirty="0">
              <a:highlight>
                <a:srgbClr val="00FF00"/>
              </a:highlight>
            </a:endParaRPr>
          </a:p>
          <a:p>
            <a:r>
              <a:rPr kumimoji="1" lang="ja-JP" altLang="en-US" sz="2000" dirty="0"/>
              <a:t>ゲームスタート</a:t>
            </a:r>
            <a:endParaRPr kumimoji="1" lang="en-US" altLang="ja-JP" sz="2000" dirty="0"/>
          </a:p>
          <a:p>
            <a:endParaRPr lang="en-US" altLang="ja-JP" sz="2000" dirty="0"/>
          </a:p>
          <a:p>
            <a:endParaRPr kumimoji="1" lang="en-US" altLang="ja-JP" sz="2000" dirty="0"/>
          </a:p>
          <a:p>
            <a:endParaRPr kumimoji="1" lang="ja-JP" altLang="en-US" sz="2000" dirty="0"/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CF15533C-4B5D-695A-1983-D29788C8AA70}"/>
              </a:ext>
            </a:extLst>
          </p:cNvPr>
          <p:cNvCxnSpPr>
            <a:cxnSpLocks/>
          </p:cNvCxnSpPr>
          <p:nvPr/>
        </p:nvCxnSpPr>
        <p:spPr>
          <a:xfrm>
            <a:off x="2714993" y="2988345"/>
            <a:ext cx="4206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75BC11C-BED4-4D01-B125-61E96F8076E8}"/>
              </a:ext>
            </a:extLst>
          </p:cNvPr>
          <p:cNvSpPr/>
          <p:nvPr/>
        </p:nvSpPr>
        <p:spPr>
          <a:xfrm>
            <a:off x="3103450" y="2266106"/>
            <a:ext cx="1759568" cy="14761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2000" dirty="0">
                <a:highlight>
                  <a:srgbClr val="00FF00"/>
                </a:highlight>
              </a:rPr>
              <a:t>ロール画面</a:t>
            </a:r>
            <a:endParaRPr lang="en-US" altLang="ja-JP" sz="2000" dirty="0">
              <a:highlight>
                <a:srgbClr val="00FF00"/>
              </a:highlight>
            </a:endParaRPr>
          </a:p>
          <a:p>
            <a:r>
              <a:rPr lang="ja-JP" altLang="en-US" sz="2000" dirty="0"/>
              <a:t>ロール</a:t>
            </a:r>
            <a:endParaRPr lang="en-US" altLang="ja-JP" sz="2000" dirty="0"/>
          </a:p>
          <a:p>
            <a:endParaRPr lang="en-US" altLang="ja-JP" sz="2000" dirty="0"/>
          </a:p>
          <a:p>
            <a:endParaRPr kumimoji="1" lang="en-US" altLang="ja-JP" sz="2000" dirty="0"/>
          </a:p>
          <a:p>
            <a:endParaRPr kumimoji="1" lang="ja-JP" altLang="en-US" sz="2000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5AA7451-0F9E-4271-A1D7-25D4DE6FBBA2}"/>
              </a:ext>
            </a:extLst>
          </p:cNvPr>
          <p:cNvSpPr/>
          <p:nvPr/>
        </p:nvSpPr>
        <p:spPr>
          <a:xfrm>
            <a:off x="5215467" y="2266106"/>
            <a:ext cx="1759568" cy="14761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2000" dirty="0">
                <a:highlight>
                  <a:srgbClr val="00FF00"/>
                </a:highlight>
              </a:rPr>
              <a:t>リロール画面</a:t>
            </a:r>
            <a:endParaRPr lang="en-US" altLang="ja-JP" sz="2000" dirty="0">
              <a:highlight>
                <a:srgbClr val="00FF00"/>
              </a:highlight>
            </a:endParaRPr>
          </a:p>
          <a:p>
            <a:r>
              <a:rPr kumimoji="1" lang="ja-JP" altLang="en-US" sz="2000" dirty="0"/>
              <a:t>対象を選択</a:t>
            </a:r>
            <a:endParaRPr kumimoji="1" lang="en-US" altLang="ja-JP" sz="2000" dirty="0"/>
          </a:p>
          <a:p>
            <a:endParaRPr lang="en-US" altLang="ja-JP" sz="2000" dirty="0"/>
          </a:p>
          <a:p>
            <a:r>
              <a:rPr lang="ja-JP" altLang="en-US" sz="2000" dirty="0"/>
              <a:t>リロール</a:t>
            </a:r>
            <a:endParaRPr lang="en-US" altLang="ja-JP" sz="2000" dirty="0"/>
          </a:p>
          <a:p>
            <a:endParaRPr kumimoji="1" lang="en-US" altLang="ja-JP" sz="1400" dirty="0"/>
          </a:p>
          <a:p>
            <a:endParaRPr lang="en-US" altLang="ja-JP" sz="2000" dirty="0"/>
          </a:p>
          <a:p>
            <a:endParaRPr kumimoji="1" lang="ja-JP" altLang="en-US" sz="2000" dirty="0"/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0953ED85-94F5-4944-BAAE-F15CEE739DB3}"/>
              </a:ext>
            </a:extLst>
          </p:cNvPr>
          <p:cNvCxnSpPr>
            <a:cxnSpLocks/>
          </p:cNvCxnSpPr>
          <p:nvPr/>
        </p:nvCxnSpPr>
        <p:spPr>
          <a:xfrm>
            <a:off x="4863018" y="2988345"/>
            <a:ext cx="4206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87A761A8-FDD7-47E9-8440-36BC650B25E7}"/>
              </a:ext>
            </a:extLst>
          </p:cNvPr>
          <p:cNvCxnSpPr>
            <a:cxnSpLocks/>
          </p:cNvCxnSpPr>
          <p:nvPr/>
        </p:nvCxnSpPr>
        <p:spPr>
          <a:xfrm>
            <a:off x="5623730" y="2961425"/>
            <a:ext cx="0" cy="324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0E1618C3-815D-4C4E-A374-F2004230922A}"/>
              </a:ext>
            </a:extLst>
          </p:cNvPr>
          <p:cNvCxnSpPr>
            <a:cxnSpLocks/>
          </p:cNvCxnSpPr>
          <p:nvPr/>
        </p:nvCxnSpPr>
        <p:spPr>
          <a:xfrm flipV="1">
            <a:off x="5911762" y="2946599"/>
            <a:ext cx="0" cy="3005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4F5BA95-7411-4CB8-B592-E1B602351648}"/>
              </a:ext>
            </a:extLst>
          </p:cNvPr>
          <p:cNvSpPr/>
          <p:nvPr/>
        </p:nvSpPr>
        <p:spPr>
          <a:xfrm>
            <a:off x="4577055" y="4574408"/>
            <a:ext cx="1759568" cy="14761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2000" dirty="0">
                <a:highlight>
                  <a:srgbClr val="00FF00"/>
                </a:highlight>
              </a:rPr>
              <a:t>リザルト画面</a:t>
            </a:r>
            <a:endParaRPr lang="en-US" altLang="ja-JP" sz="2000" dirty="0">
              <a:highlight>
                <a:srgbClr val="00FF00"/>
              </a:highlight>
            </a:endParaRPr>
          </a:p>
          <a:p>
            <a:r>
              <a:rPr lang="ja-JP" altLang="en-US" sz="2000" dirty="0"/>
              <a:t>合計スコア、ランク表示</a:t>
            </a:r>
            <a:endParaRPr lang="en-US" altLang="ja-JP" sz="2000" dirty="0"/>
          </a:p>
          <a:p>
            <a:endParaRPr kumimoji="1" lang="en-US" altLang="ja-JP" sz="2000" dirty="0"/>
          </a:p>
          <a:p>
            <a:endParaRPr kumimoji="1" lang="ja-JP" altLang="en-US" sz="2000" dirty="0"/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605624C3-2B3A-46E0-BE8F-D795CA732C51}"/>
              </a:ext>
            </a:extLst>
          </p:cNvPr>
          <p:cNvCxnSpPr>
            <a:cxnSpLocks/>
          </p:cNvCxnSpPr>
          <p:nvPr/>
        </p:nvCxnSpPr>
        <p:spPr>
          <a:xfrm>
            <a:off x="3560484" y="5326070"/>
            <a:ext cx="9581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553B99-25BE-CEBE-CCA1-5FB0F773D746}"/>
              </a:ext>
            </a:extLst>
          </p:cNvPr>
          <p:cNvSpPr txBox="1"/>
          <p:nvPr/>
        </p:nvSpPr>
        <p:spPr>
          <a:xfrm>
            <a:off x="3159936" y="1870663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サイコロを振る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D6707E1-0DA8-04AA-9B6F-FAB52F4E6F01}"/>
              </a:ext>
            </a:extLst>
          </p:cNvPr>
          <p:cNvSpPr txBox="1"/>
          <p:nvPr/>
        </p:nvSpPr>
        <p:spPr>
          <a:xfrm>
            <a:off x="7106687" y="2315094"/>
            <a:ext cx="1810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リロール回数は制限あり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41AF4DE-EBDF-8FFF-CFBB-FC25BEFCCE6A}"/>
              </a:ext>
            </a:extLst>
          </p:cNvPr>
          <p:cNvSpPr txBox="1"/>
          <p:nvPr/>
        </p:nvSpPr>
        <p:spPr>
          <a:xfrm>
            <a:off x="7011636" y="3113921"/>
            <a:ext cx="2045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役と出目に応じてスコアが決まる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988FA9D3-2DFD-EC7A-BD77-E73EB0B8627C}"/>
              </a:ext>
            </a:extLst>
          </p:cNvPr>
          <p:cNvCxnSpPr>
            <a:cxnSpLocks/>
          </p:cNvCxnSpPr>
          <p:nvPr/>
        </p:nvCxnSpPr>
        <p:spPr>
          <a:xfrm flipH="1">
            <a:off x="4776084" y="3189605"/>
            <a:ext cx="42622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C87B0C2-4902-5A5E-6625-8E677FA82D0B}"/>
              </a:ext>
            </a:extLst>
          </p:cNvPr>
          <p:cNvSpPr txBox="1"/>
          <p:nvPr/>
        </p:nvSpPr>
        <p:spPr>
          <a:xfrm>
            <a:off x="6513550" y="5628703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合計スコアに応じてランクが決まる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71863B4-B9CB-FD94-F891-D70D3CB50A7A}"/>
              </a:ext>
            </a:extLst>
          </p:cNvPr>
          <p:cNvSpPr txBox="1"/>
          <p:nvPr/>
        </p:nvSpPr>
        <p:spPr>
          <a:xfrm>
            <a:off x="6492837" y="4716869"/>
            <a:ext cx="1918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残りロール回数が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になったらリザルト画面になる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1FED0C2-44E7-4052-EB83-C0A762C6ABC1}"/>
              </a:ext>
            </a:extLst>
          </p:cNvPr>
          <p:cNvSpPr/>
          <p:nvPr/>
        </p:nvSpPr>
        <p:spPr>
          <a:xfrm>
            <a:off x="1742485" y="4587988"/>
            <a:ext cx="1759568" cy="14761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2000" dirty="0">
                <a:highlight>
                  <a:srgbClr val="00FF00"/>
                </a:highlight>
              </a:rPr>
              <a:t>スコア画面</a:t>
            </a:r>
            <a:endParaRPr lang="en-US" altLang="ja-JP" sz="2000" dirty="0">
              <a:highlight>
                <a:srgbClr val="00FF00"/>
              </a:highlight>
            </a:endParaRPr>
          </a:p>
          <a:p>
            <a:r>
              <a:rPr lang="ja-JP" altLang="en-US" sz="2000" dirty="0"/>
              <a:t>スコア表示</a:t>
            </a:r>
            <a:endParaRPr kumimoji="1" lang="en-US" altLang="ja-JP" sz="2000" dirty="0"/>
          </a:p>
          <a:p>
            <a:endParaRPr lang="en-US" altLang="ja-JP" sz="2000" dirty="0"/>
          </a:p>
          <a:p>
            <a:endParaRPr kumimoji="1" lang="en-US" altLang="ja-JP" sz="2000" dirty="0"/>
          </a:p>
          <a:p>
            <a:endParaRPr kumimoji="1" lang="ja-JP" altLang="en-US" sz="2000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E0BE68E-4C41-3156-03FA-18301B8F2D46}"/>
              </a:ext>
            </a:extLst>
          </p:cNvPr>
          <p:cNvCxnSpPr>
            <a:cxnSpLocks/>
          </p:cNvCxnSpPr>
          <p:nvPr/>
        </p:nvCxnSpPr>
        <p:spPr>
          <a:xfrm flipH="1">
            <a:off x="2383370" y="3760252"/>
            <a:ext cx="3585370" cy="8277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A232741A-AAD5-B474-4436-C865C96D6F53}"/>
              </a:ext>
            </a:extLst>
          </p:cNvPr>
          <p:cNvCxnSpPr>
            <a:cxnSpLocks/>
          </p:cNvCxnSpPr>
          <p:nvPr/>
        </p:nvCxnSpPr>
        <p:spPr>
          <a:xfrm flipV="1">
            <a:off x="2826929" y="3801456"/>
            <a:ext cx="3528392" cy="8141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802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6ef44b5-d513-4c2a-b20e-198914f6c55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408FA4B8CEDEB449B75DFD83B1FF89E" ma:contentTypeVersion="5" ma:contentTypeDescription="新しいドキュメントを作成します。" ma:contentTypeScope="" ma:versionID="fde9c6b662d7528f3352b5bebbe4cf2d">
  <xsd:schema xmlns:xsd="http://www.w3.org/2001/XMLSchema" xmlns:xs="http://www.w3.org/2001/XMLSchema" xmlns:p="http://schemas.microsoft.com/office/2006/metadata/properties" xmlns:ns2="86ef44b5-d513-4c2a-b20e-198914f6c557" targetNamespace="http://schemas.microsoft.com/office/2006/metadata/properties" ma:root="true" ma:fieldsID="4aafc4b052030e1602cfd493b104982c" ns2:_="">
    <xsd:import namespace="86ef44b5-d513-4c2a-b20e-198914f6c557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ef44b5-d513-4c2a-b20e-198914f6c557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5E5EEC-9096-4047-B10C-CE6E08F040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A01B7A-69D0-4F34-BAB2-A57FF7A534B9}">
  <ds:schemaRefs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86ef44b5-d513-4c2a-b20e-198914f6c557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1E2A4A9-49A8-481F-BCA1-EA27344CF5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ef44b5-d513-4c2a-b20e-198914f6c5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11468</TotalTime>
  <Words>240</Words>
  <Application>Microsoft Office PowerPoint</Application>
  <PresentationFormat>画面に合わせる (4:3)</PresentationFormat>
  <Paragraphs>49</Paragraphs>
  <Slides>4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テーマ</vt:lpstr>
      <vt:lpstr>1.ソフトウェア企画書</vt:lpstr>
      <vt:lpstr>ゲームの概要</vt:lpstr>
      <vt:lpstr>1.（2）特徴の詳細</vt:lpstr>
      <vt:lpstr>1.（3）ゲームのサイクル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企画書</dc:title>
  <dc:creator>skonno</dc:creator>
  <cp:lastModifiedBy>横山 諒_函館</cp:lastModifiedBy>
  <cp:revision>2311</cp:revision>
  <dcterms:created xsi:type="dcterms:W3CDTF">2016-10-24T06:31:34Z</dcterms:created>
  <dcterms:modified xsi:type="dcterms:W3CDTF">2026-06-19T11:03:08Z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0x0101003408FA4B8CEDEB449B75DFD83B1FF89E</vt:lpwstr>
  </property>
</Properties>
</file>